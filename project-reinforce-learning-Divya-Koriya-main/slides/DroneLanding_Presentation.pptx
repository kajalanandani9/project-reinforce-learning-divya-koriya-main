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Episode Score</c:v>
                </c:pt>
              </c:strCache>
            </c:strRef>
          </c:tx>
          <c:spPr>
            <a:ln w="25400" cap="flat" cmpd="sng" algn="ctr">
              <a:solidFill>
                <a:srgbClr val="457B9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57B9D"/>
              </a:solidFill>
              <a:ln w="9525" cap="flat" cmpd="sng" algn="ctr">
                <a:solidFill>
                  <a:srgbClr val="457B9D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Sheet1!$A$2:$A$16</c:f>
              <c:strCache>
                <c:ptCount val="15"/>
                <c:pt idx="0">
                  <c:v>Ep 10</c:v>
                </c:pt>
                <c:pt idx="1">
                  <c:v>Ep 20</c:v>
                </c:pt>
                <c:pt idx="2">
                  <c:v>Ep 30</c:v>
                </c:pt>
                <c:pt idx="3">
                  <c:v>Ep 40</c:v>
                </c:pt>
                <c:pt idx="4">
                  <c:v>Ep 50</c:v>
                </c:pt>
                <c:pt idx="5">
                  <c:v>Ep 60</c:v>
                </c:pt>
                <c:pt idx="6">
                  <c:v>Ep 70</c:v>
                </c:pt>
                <c:pt idx="7">
                  <c:v>Ep 80</c:v>
                </c:pt>
                <c:pt idx="8">
                  <c:v>Ep 90</c:v>
                </c:pt>
                <c:pt idx="9">
                  <c:v>Ep 100</c:v>
                </c:pt>
                <c:pt idx="10">
                  <c:v>Ep 110</c:v>
                </c:pt>
                <c:pt idx="11">
                  <c:v>Ep 120</c:v>
                </c:pt>
                <c:pt idx="12">
                  <c:v>Ep 130</c:v>
                </c:pt>
                <c:pt idx="13">
                  <c:v>Ep 140</c:v>
                </c:pt>
                <c:pt idx="14">
                  <c:v>Ep 150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-358.3</c:v>
                </c:pt>
                <c:pt idx="1">
                  <c:v>-253.4</c:v>
                </c:pt>
                <c:pt idx="2">
                  <c:v>-274.7</c:v>
                </c:pt>
                <c:pt idx="3">
                  <c:v>-364.2</c:v>
                </c:pt>
                <c:pt idx="4">
                  <c:v>-339.2</c:v>
                </c:pt>
                <c:pt idx="5">
                  <c:v>-148.1</c:v>
                </c:pt>
                <c:pt idx="6">
                  <c:v>-104</c:v>
                </c:pt>
                <c:pt idx="7">
                  <c:v>-70.6</c:v>
                </c:pt>
                <c:pt idx="8">
                  <c:v>-107.9</c:v>
                </c:pt>
                <c:pt idx="9">
                  <c:v>87.8</c:v>
                </c:pt>
                <c:pt idx="10">
                  <c:v>70.3</c:v>
                </c:pt>
                <c:pt idx="11">
                  <c:v>-40.7</c:v>
                </c:pt>
                <c:pt idx="12">
                  <c:v>-59.4</c:v>
                </c:pt>
                <c:pt idx="13">
                  <c:v>-47.8</c:v>
                </c:pt>
                <c:pt idx="14">
                  <c:v>-75.9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Rolling Average</c:v>
                </c:pt>
              </c:strCache>
            </c:strRef>
          </c:tx>
          <c:spPr>
            <a:ln w="25400" cap="flat" cmpd="sng" algn="ctr">
              <a:solidFill>
                <a:srgbClr val="0E7C7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7C7B"/>
              </a:solidFill>
              <a:ln w="9525" cap="flat" cmpd="sng" algn="ctr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Sheet1!$A$2:$A$16</c:f>
              <c:strCache>
                <c:ptCount val="15"/>
                <c:pt idx="0">
                  <c:v>Ep 10</c:v>
                </c:pt>
                <c:pt idx="1">
                  <c:v>Ep 20</c:v>
                </c:pt>
                <c:pt idx="2">
                  <c:v>Ep 30</c:v>
                </c:pt>
                <c:pt idx="3">
                  <c:v>Ep 40</c:v>
                </c:pt>
                <c:pt idx="4">
                  <c:v>Ep 50</c:v>
                </c:pt>
                <c:pt idx="5">
                  <c:v>Ep 60</c:v>
                </c:pt>
                <c:pt idx="6">
                  <c:v>Ep 70</c:v>
                </c:pt>
                <c:pt idx="7">
                  <c:v>Ep 80</c:v>
                </c:pt>
                <c:pt idx="8">
                  <c:v>Ep 90</c:v>
                </c:pt>
                <c:pt idx="9">
                  <c:v>Ep 100</c:v>
                </c:pt>
                <c:pt idx="10">
                  <c:v>Ep 110</c:v>
                </c:pt>
                <c:pt idx="11">
                  <c:v>Ep 120</c:v>
                </c:pt>
                <c:pt idx="12">
                  <c:v>Ep 130</c:v>
                </c:pt>
                <c:pt idx="13">
                  <c:v>Ep 140</c:v>
                </c:pt>
                <c:pt idx="14">
                  <c:v>Ep 150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-253.64</c:v>
                </c:pt>
                <c:pt idx="1">
                  <c:v>-210.65</c:v>
                </c:pt>
                <c:pt idx="2">
                  <c:v>-269.36</c:v>
                </c:pt>
                <c:pt idx="3">
                  <c:v>-279.05</c:v>
                </c:pt>
                <c:pt idx="4">
                  <c:v>-271.54</c:v>
                </c:pt>
                <c:pt idx="5">
                  <c:v>-251.93</c:v>
                </c:pt>
                <c:pt idx="6">
                  <c:v>-243.91</c:v>
                </c:pt>
                <c:pt idx="7">
                  <c:v>-235.84</c:v>
                </c:pt>
                <c:pt idx="8">
                  <c:v>-221.84</c:v>
                </c:pt>
                <c:pt idx="9">
                  <c:v>-204.12</c:v>
                </c:pt>
                <c:pt idx="10">
                  <c:v>-177.96</c:v>
                </c:pt>
                <c:pt idx="11">
                  <c:v>-163.71</c:v>
                </c:pt>
                <c:pt idx="12">
                  <c:v>-129.54</c:v>
                </c:pt>
                <c:pt idx="13">
                  <c:v>-102.8</c:v>
                </c:pt>
                <c:pt idx="14">
                  <c:v>-83.11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4A3B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2D4A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4A3B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1c270252-fc64-49f5-bf0a-f53cfbc807df}"/>
      </c:ext>
    </c:extLst>
  </c:chart>
  <c:spPr>
    <a:solidFill>
      <a:srgbClr val="1B2E44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7A8A7">
              <a:alpha val="15000"/>
            </a:srgbClr>
          </a:solidFill>
          <a:ln w="12700">
            <a:solidFill>
              <a:srgbClr val="17A8A7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0E7C7B">
              <a:alpha val="20000"/>
            </a:srgbClr>
          </a:solidFill>
          <a:ln w="12700">
            <a:solidFill>
              <a:srgbClr val="0E7C7B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2011680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50292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REINFORCEMENT LEARNING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77724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Autonomous Drone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77724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7A8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Landing System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11480" y="2542032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DA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Q-Network (DQN) with TensorFlow  |  LunarLander-v3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3035808"/>
            <a:ext cx="41148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20040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Name: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Divya Koriya</a:t>
            </a:r>
            <a:r>
              <a:rPr lang="en-US" sz="1100" b="1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|  Course: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Use Cases  </a:t>
            </a: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|  27 February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4343400"/>
            <a:ext cx="1325880" cy="457200"/>
          </a:xfrm>
          <a:prstGeom prst="rect">
            <a:avLst/>
          </a:prstGeom>
          <a:solidFill>
            <a:srgbClr val="1B2E44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34340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DADC"/>
                </a:solidFill>
              </a:rPr>
              <a:t>Use Case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56232" y="4343400"/>
            <a:ext cx="1325880" cy="457200"/>
          </a:xfrm>
          <a:prstGeom prst="rect">
            <a:avLst/>
          </a:prstGeom>
          <a:solidFill>
            <a:srgbClr val="1B2E44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56232" y="434340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DADC"/>
                </a:solidFill>
              </a:rPr>
              <a:t>RL Formulation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00984" y="4343400"/>
            <a:ext cx="1325880" cy="457200"/>
          </a:xfrm>
          <a:prstGeom prst="rect">
            <a:avLst/>
          </a:prstGeom>
          <a:solidFill>
            <a:srgbClr val="1B2E44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00984" y="434340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DADC"/>
                </a:solidFill>
              </a:rPr>
              <a:t>DQN Implementation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45736" y="4343400"/>
            <a:ext cx="1325880" cy="457200"/>
          </a:xfrm>
          <a:prstGeom prst="rect">
            <a:avLst/>
          </a:prstGeom>
          <a:solidFill>
            <a:srgbClr val="1B2E44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45736" y="434340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DADC"/>
                </a:solidFill>
              </a:rPr>
              <a:t>Results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90488" y="4343400"/>
            <a:ext cx="1325880" cy="457200"/>
          </a:xfrm>
          <a:prstGeom prst="rect">
            <a:avLst/>
          </a:prstGeom>
          <a:solidFill>
            <a:srgbClr val="1B2E44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434340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DADC"/>
                </a:solidFill>
              </a:rPr>
              <a:t>Deployment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635240" y="4343400"/>
            <a:ext cx="1325880" cy="457200"/>
          </a:xfrm>
          <a:prstGeom prst="rect">
            <a:avLst/>
          </a:prstGeom>
          <a:solidFill>
            <a:srgbClr val="1B2E44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434340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DADC"/>
                </a:solidFill>
              </a:rPr>
              <a:t>Ethics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01  |  USE CASE &amp; BUSINESS CONTEXT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393192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39319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🏭  THE SCENARIO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371600"/>
            <a:ext cx="685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Drone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1371600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Autonomous warehouse drone landing on a charging pad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7627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176272"/>
            <a:ext cx="685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Fuel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00200" y="2176272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Battery power — every thruster fire costs energy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980944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80944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980944"/>
            <a:ext cx="685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Crash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0200" y="2980944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Damaged hardware, operational downtime, safety risks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785616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8561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🏭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785616"/>
            <a:ext cx="685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Deploy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00200" y="3785616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Amazon/DHL warehouses, hospital logistics, factories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868680"/>
            <a:ext cx="43434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868680"/>
            <a:ext cx="43434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868680"/>
            <a:ext cx="4343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RL → REAL WORLD MAPPING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80560" y="1298448"/>
            <a:ext cx="4343400" cy="292608"/>
          </a:xfrm>
          <a:prstGeom prst="rect">
            <a:avLst/>
          </a:prstGeom>
          <a:solidFill>
            <a:srgbClr val="1B2E44"/>
          </a:solidFill>
          <a:ln w="12700">
            <a:solidFill>
              <a:srgbClr val="1B2E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1298448"/>
            <a:ext cx="144475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DADC"/>
                </a:solidFill>
              </a:rPr>
              <a:t>RL Concept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25312" y="1298448"/>
            <a:ext cx="144475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DADC"/>
                </a:solidFill>
              </a:rPr>
              <a:t>LunarLander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70064" y="1298448"/>
            <a:ext cx="144475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DADC"/>
                </a:solidFill>
              </a:rPr>
              <a:t>Real Drone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80560" y="1591056"/>
            <a:ext cx="4343400" cy="438912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1591056"/>
            <a:ext cx="14447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Agent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25312" y="1591056"/>
            <a:ext cx="14447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Lander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70064" y="1591056"/>
            <a:ext cx="14447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Drone Controller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80560" y="2029968"/>
            <a:ext cx="43434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2029968"/>
            <a:ext cx="14447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Environment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25312" y="2029968"/>
            <a:ext cx="14447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Simulator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70064" y="2029968"/>
            <a:ext cx="14447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Warehouse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80560" y="2468880"/>
            <a:ext cx="4343400" cy="438912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2468880"/>
            <a:ext cx="14447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State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25312" y="2468880"/>
            <a:ext cx="14447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Pos, vel, angle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70064" y="2468880"/>
            <a:ext cx="14447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IMU + LiDAR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480560" y="2907792"/>
            <a:ext cx="43434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0" y="2907792"/>
            <a:ext cx="14447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Action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25312" y="2907792"/>
            <a:ext cx="14447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Thrusters (0–3)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70064" y="2907792"/>
            <a:ext cx="14447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Motor commands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480560" y="3346704"/>
            <a:ext cx="4343400" cy="438912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80560" y="3346704"/>
            <a:ext cx="14447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Reward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925312" y="3346704"/>
            <a:ext cx="14447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Safe landing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70064" y="3346704"/>
            <a:ext cx="14447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Successful dock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480560" y="3785616"/>
            <a:ext cx="43434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80560" y="3785616"/>
            <a:ext cx="14447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Episode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925312" y="3785616"/>
            <a:ext cx="14447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One descent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70064" y="3785616"/>
            <a:ext cx="14447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One landing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E44"/>
          </a:solidFill>
          <a:ln w="12700">
            <a:solidFill>
              <a:srgbClr val="1B2E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02  |  HOW DQN WORKS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868680"/>
            <a:ext cx="6400800" cy="640080"/>
          </a:xfrm>
          <a:prstGeom prst="rect">
            <a:avLst/>
          </a:prstGeom>
          <a:solidFill>
            <a:srgbClr val="1B2E44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868680"/>
            <a:ext cx="6400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DAD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Q(state, action)  ≈  Neural Network(state)  →  [Q-value per action]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011680" cy="3108960"/>
          </a:xfrm>
          <a:prstGeom prst="rect">
            <a:avLst/>
          </a:prstGeom>
          <a:solidFill>
            <a:srgbClr val="1B2E44"/>
          </a:solidFill>
          <a:ln w="1905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01168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91640"/>
            <a:ext cx="2011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🧠  Q-Network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182880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2 hidden layers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(64→64→4 neurons)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Maps state to Q-values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for all 4 actions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691640"/>
            <a:ext cx="2011680" cy="3108960"/>
          </a:xfrm>
          <a:prstGeom prst="rect">
            <a:avLst/>
          </a:prstGeom>
          <a:solidFill>
            <a:srgbClr val="1B2E44"/>
          </a:solidFill>
          <a:ln w="19050">
            <a:solidFill>
              <a:srgbClr val="1D6F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691640"/>
            <a:ext cx="2011680" cy="5029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691640"/>
            <a:ext cx="2011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🎲  ε-Greedy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286000"/>
            <a:ext cx="182880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ε=1.0 → explore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ε→0.01 over time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Decay: 0.995/episode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Balance explore/exploit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691640"/>
            <a:ext cx="2011680" cy="3108960"/>
          </a:xfrm>
          <a:prstGeom prst="rect">
            <a:avLst/>
          </a:prstGeom>
          <a:solidFill>
            <a:srgbClr val="1B2E44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691640"/>
            <a:ext cx="20116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691640"/>
            <a:ext cx="2011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🗄️  Experience Replay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286000"/>
            <a:ext cx="182880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Buffer of 10,000 steps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Random batch=32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Breaks correlation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Stabilizes training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691640"/>
            <a:ext cx="2011680" cy="3108960"/>
          </a:xfrm>
          <a:prstGeom prst="rect">
            <a:avLst/>
          </a:prstGeom>
          <a:solidFill>
            <a:srgbClr val="1B2E44"/>
          </a:solidFill>
          <a:ln w="1905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691640"/>
            <a:ext cx="201168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691640"/>
            <a:ext cx="2011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 Target Network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2286000"/>
            <a:ext cx="182880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Copy of Q-network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Updated every 20 eps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Provides stable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training targets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71600" y="4709160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8DAD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Bellman Update:  Q(s,a) = r + γ · max Q(s', a')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03  |  NETWORK ARCHITECTURE &amp; HYPERPARAMETERS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754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47548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4754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NETWORK ARCHITECTURE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914400" cy="2560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9144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INPUT LAYER
</a:t>
            </a:r>
            <a:endParaRPr lang="en-US" sz="7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 neurons
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state features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737360" y="1417320"/>
            <a:ext cx="914400" cy="2560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417320"/>
            <a:ext cx="9144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HIDDEN LAYER 1
</a:t>
            </a:r>
            <a:endParaRPr lang="en-US" sz="7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64 neurons
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ReLU activation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926080" y="1417320"/>
            <a:ext cx="914400" cy="2560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1417320"/>
            <a:ext cx="9144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HIDDEN LAYER 2
</a:t>
            </a:r>
            <a:endParaRPr lang="en-US" sz="7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64 neurons
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ReLU activation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114800" y="1417320"/>
            <a:ext cx="914400" cy="2560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417320"/>
            <a:ext cx="9144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OUTPUT LAYER
</a:t>
            </a:r>
            <a:endParaRPr lang="en-US" sz="7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 neurons
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Q-values (linear)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463040" y="2606040"/>
            <a:ext cx="27432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51760" y="2606040"/>
            <a:ext cx="27432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2606040"/>
            <a:ext cx="27432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86868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57800" y="868680"/>
            <a:ext cx="35661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868680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HYPERPARAMETERS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57800" y="1280160"/>
            <a:ext cx="3566160" cy="429768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1280160"/>
            <a:ext cx="137160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Learning Rate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6560" y="1280160"/>
            <a:ext cx="91440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</a:rPr>
              <a:t>0.001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80960" y="1280160"/>
            <a:ext cx="10972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Adam optimizer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257800" y="1709928"/>
            <a:ext cx="356616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1709928"/>
            <a:ext cx="137160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Discount γ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66560" y="1709928"/>
            <a:ext cx="91440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</a:rPr>
              <a:t>0.99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80960" y="1709928"/>
            <a:ext cx="10972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Value future rewards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257800" y="2139696"/>
            <a:ext cx="3566160" cy="429768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2139696"/>
            <a:ext cx="137160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ε Start → Min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66560" y="2139696"/>
            <a:ext cx="91440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</a:rPr>
              <a:t>1.0 → 0.01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80960" y="2139696"/>
            <a:ext cx="10972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Explore to exploit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257800" y="2569464"/>
            <a:ext cx="356616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2569464"/>
            <a:ext cx="137160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ε Decay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66560" y="2569464"/>
            <a:ext cx="91440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</a:rPr>
              <a:t>0.995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680960" y="2569464"/>
            <a:ext cx="10972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Per episode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257800" y="2999232"/>
            <a:ext cx="3566160" cy="429768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49240" y="2999232"/>
            <a:ext cx="137160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Batch Size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66560" y="2999232"/>
            <a:ext cx="91440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</a:rPr>
              <a:t>32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680960" y="2999232"/>
            <a:ext cx="10972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Mini-batch training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257800" y="3429000"/>
            <a:ext cx="356616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3429000"/>
            <a:ext cx="137160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Replay Buffer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766560" y="3429000"/>
            <a:ext cx="91440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</a:rPr>
              <a:t>10,000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680960" y="3429000"/>
            <a:ext cx="10972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Past experiences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257800" y="3858768"/>
            <a:ext cx="3566160" cy="429768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49240" y="3858768"/>
            <a:ext cx="137160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Target Update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766560" y="3858768"/>
            <a:ext cx="91440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</a:rPr>
              <a:t>Every 20 eps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680960" y="3858768"/>
            <a:ext cx="10972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Stable targets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257800" y="4288536"/>
            <a:ext cx="356616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49240" y="4288536"/>
            <a:ext cx="137160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Max Steps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766560" y="4288536"/>
            <a:ext cx="91440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</a:rPr>
              <a:t>500/episode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680960" y="4288536"/>
            <a:ext cx="10972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Speed optimization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E44"/>
          </a:solidFill>
          <a:ln w="12700">
            <a:solidFill>
              <a:srgbClr val="1B2E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04  |  TRAINING RESULTS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011680" cy="1051560"/>
          </a:xfrm>
          <a:prstGeom prst="rect">
            <a:avLst/>
          </a:prstGeom>
          <a:solidFill>
            <a:srgbClr val="1B2E44"/>
          </a:solidFill>
          <a:ln w="1905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2296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7B"/>
                </a:solidFill>
              </a:rPr>
              <a:t>150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Episodes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Trained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822960"/>
            <a:ext cx="2011680" cy="1051560"/>
          </a:xfrm>
          <a:prstGeom prst="rect">
            <a:avLst/>
          </a:prstGeom>
          <a:solidFill>
            <a:srgbClr val="1B2E44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82296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7316"/>
                </a:solidFill>
              </a:rPr>
              <a:t>89.1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0" y="141732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Best Score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Achieved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822960"/>
            <a:ext cx="2011680" cy="1051560"/>
          </a:xfrm>
          <a:prstGeom prst="rect">
            <a:avLst/>
          </a:prstGeom>
          <a:solidFill>
            <a:srgbClr val="1B2E44"/>
          </a:solidFill>
          <a:ln w="19050">
            <a:solidFill>
              <a:srgbClr val="1D6F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82296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6FA4"/>
                </a:solidFill>
              </a:rPr>
              <a:t>-83.1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17720" y="141732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Final Avg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(last 100)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822960"/>
            <a:ext cx="2011680" cy="1051560"/>
          </a:xfrm>
          <a:prstGeom prst="rect">
            <a:avLst/>
          </a:prstGeom>
          <a:solidFill>
            <a:srgbClr val="1B2E44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82296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</a:rPr>
              <a:t>↑ 59%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66560" y="141732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Score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Improvement</a:t>
            </a:r>
            <a:endParaRPr lang="en-US" sz="9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20040" y="1993392"/>
          <a:ext cx="85039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04  |  RESULTS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74320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274320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1: Ep 1–50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💥 Pure Exploration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Agent acts randomly (ε ≈ 1.0)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450592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Scores: -250 to -380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980944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Epsilon decays rapidly in these early steps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511296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Learning from random crashes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822960"/>
            <a:ext cx="274320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822960"/>
            <a:ext cx="274320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82296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2: Ep 51–100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1417320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🔄 Policy Learning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192024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Agent starts exploiting (ε = 0.01)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450592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Scores begin improving: -148 → 87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980944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First non-crash episodes appear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3511296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Network begins generalizing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822960"/>
            <a:ext cx="274320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822960"/>
            <a:ext cx="274320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82296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3: Ep 101–150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📈 Steady Improvement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192024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Average rises -204 → -83 (+59%)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2450592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Best score: 89.1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980944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No crashes in late episodes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3511296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More training needed to solve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solidFill>
            <a:srgbClr val="0D1B2A">
              <a:alpha val="90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ADC"/>
                </a:solidFill>
              </a:rPr>
              <a:t>💡  Key Takeaway: The agent shows clear learning progress. 500+ episodes would achieve higher scores — this run demonstrates the learning pattern.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E44"/>
          </a:solidFill>
          <a:ln w="12700">
            <a:solidFill>
              <a:srgbClr val="1B2E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05  |  END-TO-END SYSTEM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14800" cy="292608"/>
          </a:xfrm>
          <a:prstGeom prst="rect">
            <a:avLst/>
          </a:prstGeom>
          <a:solidFill>
            <a:srgbClr val="0E7C7B">
              <a:alpha val="40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4114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DADC"/>
                </a:solidFill>
              </a:rPr>
              <a:t>TRAINING PHASE  (Cloud / GPU)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09160" y="777240"/>
            <a:ext cx="4114800" cy="292608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777240"/>
            <a:ext cx="4114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DADC"/>
                </a:solidFill>
              </a:rPr>
              <a:t>INFERENCE PHASE  (Edge / On-Drone)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1371600" cy="1097280"/>
          </a:xfrm>
          <a:prstGeom prst="rect">
            <a:avLst/>
          </a:prstGeom>
          <a:solidFill>
            <a:srgbClr val="1B2E44"/>
          </a:solidFill>
          <a:ln w="254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170432"/>
            <a:ext cx="1371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LunarLander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Simulator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901952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E7C7B"/>
                </a:solidFill>
              </a:rPr>
              <a:t>Digital twin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691640" y="1673352"/>
            <a:ext cx="411480" cy="45720"/>
          </a:xfrm>
          <a:prstGeom prst="rect">
            <a:avLst/>
          </a:prstGeom>
          <a:solidFill>
            <a:srgbClr val="17A8A7"/>
          </a:solidFill>
          <a:ln w="12700">
            <a:solidFill>
              <a:srgbClr val="17A8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1170432"/>
            <a:ext cx="1371600" cy="1097280"/>
          </a:xfrm>
          <a:prstGeom prst="rect">
            <a:avLst/>
          </a:prstGeom>
          <a:solidFill>
            <a:srgbClr val="1B2E44"/>
          </a:solidFill>
          <a:ln w="25400">
            <a:solidFill>
              <a:srgbClr val="1D6F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83080" y="1170432"/>
            <a:ext cx="1371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DQN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Training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83080" y="1901952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D6FA4"/>
                </a:solidFill>
              </a:rPr>
              <a:t>TensorFlow GPU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154680" y="1673352"/>
            <a:ext cx="411480" cy="45720"/>
          </a:xfrm>
          <a:prstGeom prst="rect">
            <a:avLst/>
          </a:prstGeom>
          <a:solidFill>
            <a:srgbClr val="17A8A7"/>
          </a:solidFill>
          <a:ln w="12700">
            <a:solidFill>
              <a:srgbClr val="17A8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170432"/>
            <a:ext cx="1371600" cy="1097280"/>
          </a:xfrm>
          <a:prstGeom prst="rect">
            <a:avLst/>
          </a:prstGeom>
          <a:solidFill>
            <a:srgbClr val="1B2E44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46120" y="1170432"/>
            <a:ext cx="1371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Saved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Policy (.h5)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46120" y="1901952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C3AED"/>
                </a:solidFill>
              </a:rPr>
              <a:t>Model export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617720" y="1673352"/>
            <a:ext cx="411480" cy="45720"/>
          </a:xfrm>
          <a:prstGeom prst="rect">
            <a:avLst/>
          </a:prstGeom>
          <a:solidFill>
            <a:srgbClr val="17A8A7"/>
          </a:solidFill>
          <a:ln w="12700">
            <a:solidFill>
              <a:srgbClr val="17A8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1170432"/>
            <a:ext cx="1371600" cy="1097280"/>
          </a:xfrm>
          <a:prstGeom prst="rect">
            <a:avLst/>
          </a:prstGeom>
          <a:solidFill>
            <a:srgbClr val="1B2E44"/>
          </a:solidFill>
          <a:ln w="254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1170432"/>
            <a:ext cx="1371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TFLite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Conversion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9160" y="1901952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45309"/>
                </a:solidFill>
              </a:rPr>
              <a:t>Edge-ready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80760" y="1673352"/>
            <a:ext cx="411480" cy="45720"/>
          </a:xfrm>
          <a:prstGeom prst="rect">
            <a:avLst/>
          </a:prstGeom>
          <a:solidFill>
            <a:srgbClr val="17A8A7"/>
          </a:solidFill>
          <a:ln w="12700">
            <a:solidFill>
              <a:srgbClr val="17A8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1170432"/>
            <a:ext cx="1371600" cy="1097280"/>
          </a:xfrm>
          <a:prstGeom prst="rect">
            <a:avLst/>
          </a:prstGeom>
          <a:solidFill>
            <a:srgbClr val="1B2E44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1170432"/>
            <a:ext cx="1371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Drone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Controller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72200" y="1901952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F4444"/>
                </a:solidFill>
              </a:rPr>
              <a:t>Embedded CPU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543800" y="1673352"/>
            <a:ext cx="411480" cy="45720"/>
          </a:xfrm>
          <a:prstGeom prst="rect">
            <a:avLst/>
          </a:prstGeom>
          <a:solidFill>
            <a:srgbClr val="17A8A7"/>
          </a:solidFill>
          <a:ln w="12700">
            <a:solidFill>
              <a:srgbClr val="17A8A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35240" y="1170432"/>
            <a:ext cx="1371600" cy="1097280"/>
          </a:xfrm>
          <a:prstGeom prst="rect">
            <a:avLst/>
          </a:prstGeom>
          <a:solidFill>
            <a:srgbClr val="1B2E44"/>
          </a:solidFill>
          <a:ln w="254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635240" y="1170432"/>
            <a:ext cx="1371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Thruster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Commands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35240" y="1901952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45309"/>
                </a:solidFill>
              </a:rPr>
              <a:t>Motor signals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20040" y="2468880"/>
            <a:ext cx="8503920" cy="292608"/>
          </a:xfrm>
          <a:prstGeom prst="rect">
            <a:avLst/>
          </a:prstGeom>
          <a:solidFill>
            <a:srgbClr val="1B2E44"/>
          </a:solidFill>
          <a:ln w="12700">
            <a:solidFill>
              <a:srgbClr val="1B2E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468880"/>
            <a:ext cx="8503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A8DADC"/>
                </a:solidFill>
              </a:rPr>
              <a:t>DESIGN DECISIONS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2788920"/>
            <a:ext cx="8503920" cy="429768"/>
          </a:xfrm>
          <a:prstGeom prst="rect">
            <a:avLst/>
          </a:prstGeom>
          <a:solidFill>
            <a:srgbClr val="1B2E44"/>
          </a:solidFill>
          <a:ln w="3810">
            <a:solidFill>
              <a:srgbClr val="2D4A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788920"/>
            <a:ext cx="164592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DADC"/>
                </a:solidFill>
              </a:rPr>
              <a:t>🖥️  Training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103120" y="2788920"/>
            <a:ext cx="228600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Cloud GPU server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389120" y="2788920"/>
            <a:ext cx="42976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DQN is compute-heavy; impractical on CPU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3218688"/>
            <a:ext cx="8503920" cy="429768"/>
          </a:xfrm>
          <a:prstGeom prst="rect">
            <a:avLst/>
          </a:prstGeom>
          <a:solidFill>
            <a:srgbClr val="1B2E44"/>
          </a:solidFill>
          <a:ln w="3810">
            <a:solidFill>
              <a:srgbClr val="2D4A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218688"/>
            <a:ext cx="164592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DADC"/>
                </a:solidFill>
              </a:rPr>
              <a:t>⚡  Inference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103120" y="3218688"/>
            <a:ext cx="228600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Edge device (on drone)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389120" y="3218688"/>
            <a:ext cx="42976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Real-time control needs &lt;5ms latency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3648456"/>
            <a:ext cx="8503920" cy="429768"/>
          </a:xfrm>
          <a:prstGeom prst="rect">
            <a:avLst/>
          </a:prstGeom>
          <a:solidFill>
            <a:srgbClr val="1B2E44"/>
          </a:solidFill>
          <a:ln w="3810">
            <a:solidFill>
              <a:srgbClr val="2D4A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3648456"/>
            <a:ext cx="164592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DADC"/>
                </a:solidFill>
              </a:rPr>
              <a:t>📦  Format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103120" y="3648456"/>
            <a:ext cx="228600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TFLite (compressed)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389120" y="3648456"/>
            <a:ext cx="42976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Lightweight for embedded hardware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4078224"/>
            <a:ext cx="8503920" cy="429768"/>
          </a:xfrm>
          <a:prstGeom prst="rect">
            <a:avLst/>
          </a:prstGeom>
          <a:solidFill>
            <a:srgbClr val="1B2E44"/>
          </a:solidFill>
          <a:ln w="3810">
            <a:solidFill>
              <a:srgbClr val="2D4A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078224"/>
            <a:ext cx="164592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DADC"/>
                </a:solidFill>
              </a:rPr>
              <a:t>🔄  Updates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103120" y="4078224"/>
            <a:ext cx="228600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Weekly batch retraining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389120" y="4078224"/>
            <a:ext cx="42976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Balance stability vs. adaptation to env changes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" y="4507992"/>
            <a:ext cx="8503920" cy="429768"/>
          </a:xfrm>
          <a:prstGeom prst="rect">
            <a:avLst/>
          </a:prstGeom>
          <a:solidFill>
            <a:srgbClr val="1B2E44"/>
          </a:solidFill>
          <a:ln w="3810">
            <a:solidFill>
              <a:srgbClr val="2D4A6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507992"/>
            <a:ext cx="164592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DADC"/>
                </a:solidFill>
              </a:rPr>
              <a:t>🛡️  Fallback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4507992"/>
            <a:ext cx="228600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Rule-based PID controller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389120" y="4507992"/>
            <a:ext cx="42976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Safety net if RL policy fails or acts unexpectedly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06  |  MONITORING &amp; MAINTENANCE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420624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 OPERATIONAL METRICS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4206240" cy="320040"/>
          </a:xfrm>
          <a:prstGeom prst="rect">
            <a:avLst/>
          </a:prstGeom>
          <a:solidFill>
            <a:srgbClr val="1B2E44"/>
          </a:solidFill>
          <a:ln w="12700">
            <a:solidFill>
              <a:srgbClr val="1B2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61872"/>
            <a:ext cx="139903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8DADC"/>
                </a:solidFill>
              </a:rPr>
              <a:t>Metric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19072" y="1261872"/>
            <a:ext cx="139903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8DADC"/>
                </a:solidFill>
              </a:rPr>
              <a:t>Normal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118104" y="1261872"/>
            <a:ext cx="139903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8DADC"/>
                </a:solidFill>
              </a:rPr>
              <a:t>Alert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1600200"/>
            <a:ext cx="4206240" cy="640080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600200"/>
            <a:ext cx="13075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Landing Success Rate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719072" y="1600200"/>
            <a:ext cx="139903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&gt; 85%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18104" y="160020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&lt; 75%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240280"/>
            <a:ext cx="420624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40280"/>
            <a:ext cx="13075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Crash Rate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719072" y="2240280"/>
            <a:ext cx="139903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&lt; 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18104" y="224028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&gt; 10%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880360"/>
            <a:ext cx="4206240" cy="640080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880360"/>
            <a:ext cx="13075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Avg Fuel Usage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719072" y="2880360"/>
            <a:ext cx="139903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&lt; 130 units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18104" y="288036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</a:rPr>
              <a:t>&gt; 150 units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520440"/>
            <a:ext cx="420624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520440"/>
            <a:ext cx="13075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Episode Duration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719072" y="3520440"/>
            <a:ext cx="139903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&lt; 600 steps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18104" y="352044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6FA4"/>
                </a:solidFill>
              </a:rPr>
              <a:t>&gt; 900 steps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4160520"/>
            <a:ext cx="4206240" cy="640080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160520"/>
            <a:ext cx="13075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Q-value Variance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719072" y="4160520"/>
            <a:ext cx="139903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Stable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118104" y="416052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High variance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868680"/>
            <a:ext cx="40690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868680"/>
            <a:ext cx="40690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868680"/>
            <a:ext cx="4069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🔁  RESPONSE PLAYBOOK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1417320"/>
            <a:ext cx="347472" cy="34747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41732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1325880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Detect Drift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57800" y="1600200"/>
            <a:ext cx="34290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Rolling 7-day avg drops &gt;15% below baseline → trigger alert to ML engineer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46320" y="2103120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10312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57800" y="2011680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Investigate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57800" y="2286000"/>
            <a:ext cx="34290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Replay failure logs, compare to training data, check for environment changes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46320" y="278892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278892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57800" y="2697480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Retrain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57800" y="2971800"/>
            <a:ext cx="34290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Collect fresh simulation data, fine-tune policy with updated environment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46320" y="3474720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347472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57800" y="3383280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Emergency Stop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57800" y="3657600"/>
            <a:ext cx="34290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Crash rate &gt;10% in 24h: ground all drones, switch to manual control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846320" y="4160520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416052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57800" y="4069080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Human Override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57800" y="4343400"/>
            <a:ext cx="34290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Warehouse safety officer can override any drone at any time via dashboard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E44"/>
          </a:solidFill>
          <a:ln w="12700">
            <a:solidFill>
              <a:srgbClr val="1B2E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07  |  ETHICS &amp; RISK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14800" cy="2029968"/>
          </a:xfrm>
          <a:prstGeom prst="rect">
            <a:avLst/>
          </a:prstGeom>
          <a:solidFill>
            <a:srgbClr val="1B2E44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41148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🦺  Safety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Workers in shared drone airspace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Hardware-level emergency kill switch (independent of RL)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029968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Geofencing: drone stays above human zones until pad is clear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414016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Mandatory LED + audio warning during descent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804672"/>
            <a:ext cx="4114800" cy="2029968"/>
          </a:xfrm>
          <a:prstGeom prst="rect">
            <a:avLst/>
          </a:prstGeom>
          <a:solidFill>
            <a:srgbClr val="1B2E44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04672"/>
            <a:ext cx="411480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804672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 Reward Hacking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261872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Agent may learn to hover to avoid -100 crash penalty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00600" y="1645920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Fix: add per-step time penalty (-0.1/step)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2029968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Fix: shaped reward for downward progress toward pad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0600" y="2414016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Fix: max episode cap forces landing attempt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4114800" cy="2029968"/>
          </a:xfrm>
          <a:prstGeom prst="rect">
            <a:avLst/>
          </a:prstGeom>
          <a:solidFill>
            <a:srgbClr val="1B2E44"/>
          </a:solidFill>
          <a:ln w="19050">
            <a:solidFill>
              <a:srgbClr val="1D6F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017520"/>
            <a:ext cx="4114800" cy="4114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1752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🔍  Transparency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474720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Log every action, state, reward with timestamp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3858768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Replay any crash episode from stored logs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4242816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Track model version deployed at each incident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4626864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Post-hoc analysis report for every crash event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017520"/>
            <a:ext cx="4114800" cy="2029968"/>
          </a:xfrm>
          <a:prstGeom prst="rect">
            <a:avLst/>
          </a:prstGeom>
          <a:solidFill>
            <a:srgbClr val="1B2E44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017520"/>
            <a:ext cx="41148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01752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👤  Responsibility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474720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Fleet Manager: reviews daily dashboard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3858768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ML Engineer: triggers retraining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4242816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Safety Officer: authority to ground all drones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0600" y="4626864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System never runs without named human owner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E44"/>
          </a:solidFill>
          <a:ln w="12700">
            <a:solidFill>
              <a:srgbClr val="1B2E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08  |  CONCLUSION &amp; LEARNINGS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685800"/>
          </a:xfrm>
          <a:prstGeom prst="rect">
            <a:avLst/>
          </a:prstGeom>
          <a:solidFill>
            <a:srgbClr val="1B2E44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8DADC"/>
                </a:solidFill>
              </a:rPr>
              <a:t>"A simple DQN with strong system design beats a complex model with weak real-world reasoning."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475488" cy="47548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64208"/>
            <a:ext cx="47548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682496"/>
            <a:ext cx="7863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DQN successfully learns landing behavior through trial-and-error with no hand-coded rules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475488" cy="47548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86000"/>
            <a:ext cx="47548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304288"/>
            <a:ext cx="7863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Experience replay + target network are critical — without them training diverges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907792"/>
            <a:ext cx="47548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907792"/>
            <a:ext cx="47548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926080"/>
            <a:ext cx="7863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ε-greedy decay naturally transitions agent from exploration to exploitation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529584"/>
            <a:ext cx="475488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529584"/>
            <a:ext cx="47548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547872"/>
            <a:ext cx="7863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System design (monitoring, ethics, deployment) matters as much as model accuracy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151376"/>
            <a:ext cx="475488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151376"/>
            <a:ext cx="47548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169664"/>
            <a:ext cx="7863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Reward engineering is hard — naive rewards cause unexpected agent behaviors (reward hacking)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Thank you  |  Divya Koriya  |  Reinforcement Learning  |  February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5249</Words>
  <Application>WPS Presentation</Application>
  <PresentationFormat>On-screen Show (16:9)</PresentationFormat>
  <Paragraphs>468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Drone Landing - DQN Project</dc:title>
  <dc:creator>Divya</dc:creator>
  <dc:subject>PptxGenJS Presentation</dc:subject>
  <cp:lastModifiedBy>Divya Koriya</cp:lastModifiedBy>
  <cp:revision>2</cp:revision>
  <dcterms:created xsi:type="dcterms:W3CDTF">2026-02-27T09:26:00Z</dcterms:created>
  <dcterms:modified xsi:type="dcterms:W3CDTF">2026-02-27T09:32:49Z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432E2AAA9D4D443D857FBF8B356DBD25_12</vt:lpwstr>
  </property>
  <property fmtid="{D5CDD505-2E9C-101B-9397-08002B2CF9AE}" pid="3" name="KSOProductBuildVer">
    <vt:lpwstr>1033-12.2.0.23196</vt:lpwstr>
  </property>
</Properties>
</file>